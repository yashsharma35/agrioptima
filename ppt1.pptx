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5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7" r:id="rId9"/>
    <p:sldId id="276" r:id="rId10"/>
    <p:sldId id="278" r:id="rId11"/>
    <p:sldId id="279" r:id="rId12"/>
    <p:sldId id="280" r:id="rId13"/>
    <p:sldId id="28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7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t>26-09-2025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t>26-09-2025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t>26-09-2025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A3EF29-FBF4-1D97-3619-3758CF6733F2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A2950-107B-85D6-6ED2-62F31724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</a:t>
            </a:fld>
            <a:endParaRPr lang="en-IN" dirty="0"/>
          </a:p>
        </p:txBody>
      </p:sp>
      <p:pic>
        <p:nvPicPr>
          <p:cNvPr id="8" name="Picture 7" descr="A person walking on a street at night&#10;&#10;AI-generated content may be incorrect.">
            <a:extLst>
              <a:ext uri="{FF2B5EF4-FFF2-40B4-BE49-F238E27FC236}">
                <a16:creationId xmlns:a16="http://schemas.microsoft.com/office/drawing/2014/main" id="{FA30CEF9-41E4-F3D6-AD9B-804D83016F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04"/>
          <a:stretch>
            <a:fillRect/>
          </a:stretch>
        </p:blipFill>
        <p:spPr>
          <a:xfrm>
            <a:off x="0" y="0"/>
            <a:ext cx="12227714" cy="6946900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A41BC05-6F09-B7C2-8440-5BFAC843F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73090960-041B-F21D-ECC3-85E7B29291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14" name="Picture 13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63F94A4-C71F-E45C-3595-7C0F961B7A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5" t="38900" r="10407" b="39434"/>
          <a:stretch>
            <a:fillRect/>
          </a:stretch>
        </p:blipFill>
        <p:spPr>
          <a:xfrm>
            <a:off x="3126967" y="634999"/>
            <a:ext cx="5938065" cy="1654175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D31912-8717-BD9B-D6FE-201726815DEE}"/>
              </a:ext>
            </a:extLst>
          </p:cNvPr>
          <p:cNvSpPr/>
          <p:nvPr/>
        </p:nvSpPr>
        <p:spPr>
          <a:xfrm>
            <a:off x="6832896" y="3672620"/>
            <a:ext cx="5168900" cy="2665535"/>
          </a:xfrm>
          <a:prstGeom prst="roundRect">
            <a:avLst/>
          </a:prstGeom>
          <a:solidFill>
            <a:srgbClr val="CEE7EC">
              <a:alpha val="70000"/>
            </a:srgbClr>
          </a:solidFill>
          <a:effectLst>
            <a:outerShdw blurRad="50800" dist="50800" dir="5400000" algn="ctr" rotWithShape="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Presented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Om Patil – 0827IT221102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Riddhi Pathak – 0827IT221120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Saloni Jain – 0827IT221128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Sarthak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Kacholiya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– 0827IT221132</a:t>
            </a:r>
            <a:endParaRPr lang="en-IN" sz="2400" dirty="0">
              <a:solidFill>
                <a:srgbClr val="002060"/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C551882-6E59-FE89-192F-AE796BB9A805}"/>
              </a:ext>
            </a:extLst>
          </p:cNvPr>
          <p:cNvSpPr/>
          <p:nvPr/>
        </p:nvSpPr>
        <p:spPr>
          <a:xfrm>
            <a:off x="620507" y="4210783"/>
            <a:ext cx="3292883" cy="1589207"/>
          </a:xfrm>
          <a:prstGeom prst="roundRect">
            <a:avLst/>
          </a:prstGeom>
          <a:solidFill>
            <a:srgbClr val="CEE7EC">
              <a:alpha val="70000"/>
            </a:srgbClr>
          </a:solidFill>
          <a:effectLst>
            <a:outerShdw blurRad="50800" dist="50800" dir="5400000" algn="ctr" rotWithShape="0">
              <a:srgbClr val="000000">
                <a:alpha val="4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Prof. Mahendra Verma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015666-D4B9-4344-87D0-7D66924B72BD}"/>
              </a:ext>
            </a:extLst>
          </p:cNvPr>
          <p:cNvSpPr txBox="1"/>
          <p:nvPr/>
        </p:nvSpPr>
        <p:spPr>
          <a:xfrm>
            <a:off x="2514600" y="2289174"/>
            <a:ext cx="734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Foresight through Fortification.</a:t>
            </a:r>
          </a:p>
        </p:txBody>
      </p:sp>
    </p:spTree>
    <p:extLst>
      <p:ext uri="{BB962C8B-B14F-4D97-AF65-F5344CB8AC3E}">
        <p14:creationId xmlns:p14="http://schemas.microsoft.com/office/powerpoint/2010/main" val="381993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23005-ADC4-B205-9AF1-6D2603994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69D411-F01E-AF1F-D6D7-AAF5D0157CE4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E298F-2501-AAAD-65F8-A8AA05F4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</a:t>
            </a:fld>
            <a:endParaRPr lang="en-IN" dirty="0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3D477F4-51A6-1545-B977-C61E9BD9A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C9DD2791-FF06-45DC-91D9-DC32C30C9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3" name="Picture 2" descr="A blue and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C87C3C5F-FA4D-6DFA-E544-E597F40C8FE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  <p:sp>
        <p:nvSpPr>
          <p:cNvPr id="9" name="Arrow: Pentagon 8">
            <a:extLst>
              <a:ext uri="{FF2B5EF4-FFF2-40B4-BE49-F238E27FC236}">
                <a16:creationId xmlns:a16="http://schemas.microsoft.com/office/drawing/2014/main" id="{DEFA752B-2782-388E-B986-C43EF1F65945}"/>
              </a:ext>
            </a:extLst>
          </p:cNvPr>
          <p:cNvSpPr/>
          <p:nvPr/>
        </p:nvSpPr>
        <p:spPr>
          <a:xfrm>
            <a:off x="2120900" y="188118"/>
            <a:ext cx="6007100" cy="1219200"/>
          </a:xfrm>
          <a:prstGeom prst="homePlate">
            <a:avLst/>
          </a:prstGeom>
          <a:solidFill>
            <a:srgbClr val="CEE7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88ADCD0-B555-0F03-448F-B383D827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960" y="294703"/>
            <a:ext cx="4137059" cy="1280890"/>
          </a:xfrm>
        </p:spPr>
        <p:txBody>
          <a:bodyPr>
            <a:normAutofit/>
          </a:bodyPr>
          <a:lstStyle/>
          <a:p>
            <a:r>
              <a:rPr lang="en-IN" sz="6000" b="1" dirty="0">
                <a:solidFill>
                  <a:srgbClr val="0070C0"/>
                </a:solidFill>
              </a:rPr>
              <a:t>CONTENT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A4162922-EB6A-DAA3-DDEF-B88A2FC8E3CB}"/>
              </a:ext>
            </a:extLst>
          </p:cNvPr>
          <p:cNvSpPr/>
          <p:nvPr/>
        </p:nvSpPr>
        <p:spPr>
          <a:xfrm>
            <a:off x="7670800" y="188118"/>
            <a:ext cx="1435100" cy="1219200"/>
          </a:xfrm>
          <a:prstGeom prst="chevron">
            <a:avLst/>
          </a:prstGeom>
          <a:solidFill>
            <a:srgbClr val="CEE7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A82976D-6762-436F-D08A-61ED0F44A802}"/>
              </a:ext>
            </a:extLst>
          </p:cNvPr>
          <p:cNvSpPr/>
          <p:nvPr/>
        </p:nvSpPr>
        <p:spPr>
          <a:xfrm>
            <a:off x="8636000" y="188118"/>
            <a:ext cx="1435100" cy="1219200"/>
          </a:xfrm>
          <a:prstGeom prst="chevron">
            <a:avLst/>
          </a:prstGeom>
          <a:solidFill>
            <a:srgbClr val="CEE7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E6F59A2-F4F6-BB15-6445-D5E7274C3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649" y="1682178"/>
            <a:ext cx="4884626" cy="5037637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lnSpc>
                <a:spcPct val="90000"/>
              </a:lnSpc>
              <a:buClr>
                <a:schemeClr val="bg1">
                  <a:lumMod val="95000"/>
                </a:schemeClr>
              </a:buClr>
              <a:buFont typeface="+mj-lt"/>
              <a:buAutoNum type="arabicPeriod"/>
            </a:pPr>
            <a:r>
              <a:rPr lang="en-IN" sz="3400" dirty="0">
                <a:solidFill>
                  <a:schemeClr val="bg1"/>
                </a:solidFill>
              </a:rPr>
              <a:t>Introduction</a:t>
            </a:r>
          </a:p>
          <a:p>
            <a:pPr marL="457200" lvl="1" indent="0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r>
              <a:rPr lang="en-IN" sz="3400" dirty="0">
                <a:solidFill>
                  <a:schemeClr val="bg1"/>
                </a:solidFill>
              </a:rPr>
              <a:t>1.1 Overview</a:t>
            </a:r>
          </a:p>
          <a:p>
            <a:pPr marL="457200" lvl="1" indent="0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r>
              <a:rPr lang="en-IN" sz="3400" dirty="0">
                <a:solidFill>
                  <a:schemeClr val="bg1"/>
                </a:solidFill>
              </a:rPr>
              <a:t>1.2 Purpose</a:t>
            </a:r>
          </a:p>
          <a:p>
            <a:pPr marL="514350" indent="-514350">
              <a:lnSpc>
                <a:spcPct val="90000"/>
              </a:lnSpc>
              <a:buClr>
                <a:schemeClr val="bg1">
                  <a:lumMod val="95000"/>
                </a:schemeClr>
              </a:buClr>
              <a:buFont typeface="+mj-lt"/>
              <a:buAutoNum type="arabicPeriod"/>
            </a:pPr>
            <a:r>
              <a:rPr lang="en-IN" sz="3400" dirty="0">
                <a:solidFill>
                  <a:schemeClr val="bg1"/>
                </a:solidFill>
              </a:rPr>
              <a:t>Literature Review</a:t>
            </a:r>
          </a:p>
          <a:p>
            <a:pPr marL="514350" indent="-514350">
              <a:lnSpc>
                <a:spcPct val="90000"/>
              </a:lnSpc>
              <a:buClr>
                <a:schemeClr val="bg1">
                  <a:lumMod val="95000"/>
                </a:schemeClr>
              </a:buClr>
              <a:buFont typeface="+mj-lt"/>
              <a:buAutoNum type="arabicPeriod"/>
            </a:pPr>
            <a:r>
              <a:rPr lang="en-IN" sz="3400" dirty="0">
                <a:solidFill>
                  <a:schemeClr val="bg1"/>
                </a:solidFill>
              </a:rPr>
              <a:t>Problem Statement</a:t>
            </a:r>
          </a:p>
          <a:p>
            <a:pPr marL="514350" indent="-514350">
              <a:lnSpc>
                <a:spcPct val="90000"/>
              </a:lnSpc>
              <a:buClr>
                <a:schemeClr val="bg1">
                  <a:lumMod val="95000"/>
                </a:schemeClr>
              </a:buClr>
              <a:buFont typeface="+mj-lt"/>
              <a:buAutoNum type="arabicPeriod"/>
            </a:pPr>
            <a:r>
              <a:rPr lang="en-IN" sz="3400" dirty="0">
                <a:solidFill>
                  <a:schemeClr val="bg1"/>
                </a:solidFill>
              </a:rPr>
              <a:t>Proposed Solution</a:t>
            </a:r>
          </a:p>
          <a:p>
            <a:pPr marL="514350" indent="-514350">
              <a:lnSpc>
                <a:spcPct val="90000"/>
              </a:lnSpc>
              <a:buClr>
                <a:schemeClr val="bg1">
                  <a:lumMod val="95000"/>
                </a:schemeClr>
              </a:buClr>
              <a:buFont typeface="+mj-lt"/>
              <a:buAutoNum type="arabicPeriod"/>
            </a:pPr>
            <a:r>
              <a:rPr lang="en-IN" sz="3400" dirty="0">
                <a:solidFill>
                  <a:schemeClr val="bg1"/>
                </a:solidFill>
              </a:rPr>
              <a:t>Objectives</a:t>
            </a:r>
          </a:p>
          <a:p>
            <a:pPr marL="514350" indent="-514350">
              <a:lnSpc>
                <a:spcPct val="90000"/>
              </a:lnSpc>
              <a:buClr>
                <a:schemeClr val="bg1">
                  <a:lumMod val="95000"/>
                </a:schemeClr>
              </a:buClr>
              <a:buFont typeface="+mj-lt"/>
              <a:buAutoNum type="arabicPeriod"/>
            </a:pPr>
            <a:r>
              <a:rPr lang="en-IN" sz="3400" dirty="0">
                <a:solidFill>
                  <a:schemeClr val="bg1"/>
                </a:solidFill>
              </a:rPr>
              <a:t>Theoretical Analysis</a:t>
            </a:r>
          </a:p>
          <a:p>
            <a:pPr marL="457200" lvl="1" indent="0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r>
              <a:rPr lang="en-IN" sz="3400" dirty="0">
                <a:solidFill>
                  <a:schemeClr val="bg1"/>
                </a:solidFill>
              </a:rPr>
              <a:t>6.1 Block Diagram</a:t>
            </a:r>
          </a:p>
          <a:p>
            <a:pPr marL="457200" lvl="1" indent="0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r>
              <a:rPr lang="en-IN" sz="3400" dirty="0">
                <a:solidFill>
                  <a:schemeClr val="bg1"/>
                </a:solidFill>
              </a:rPr>
              <a:t>6.2 Hardware Requirements</a:t>
            </a:r>
          </a:p>
          <a:p>
            <a:pPr marL="457200" lvl="1" indent="0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r>
              <a:rPr lang="en-IN" sz="3400" dirty="0">
                <a:solidFill>
                  <a:schemeClr val="bg1"/>
                </a:solidFill>
              </a:rPr>
              <a:t>6.3 Software Requirements</a:t>
            </a:r>
          </a:p>
          <a:p>
            <a:pPr marL="514350" indent="-514350">
              <a:lnSpc>
                <a:spcPct val="90000"/>
              </a:lnSpc>
              <a:buClr>
                <a:schemeClr val="bg1">
                  <a:lumMod val="95000"/>
                </a:schemeClr>
              </a:buClr>
              <a:buFont typeface="+mj-lt"/>
              <a:buAutoNum type="arabicPeriod"/>
            </a:pPr>
            <a:r>
              <a:rPr lang="en-IN" sz="3400" dirty="0">
                <a:solidFill>
                  <a:schemeClr val="bg1"/>
                </a:solidFill>
              </a:rPr>
              <a:t>Applications </a:t>
            </a:r>
          </a:p>
          <a:p>
            <a:pPr marL="514350" indent="-514350">
              <a:lnSpc>
                <a:spcPct val="90000"/>
              </a:lnSpc>
              <a:buClr>
                <a:schemeClr val="bg1">
                  <a:lumMod val="95000"/>
                </a:schemeClr>
              </a:buClr>
              <a:buFont typeface="+mj-lt"/>
              <a:buAutoNum type="arabicPeriod"/>
            </a:pPr>
            <a:r>
              <a:rPr lang="en-IN" sz="3400" dirty="0">
                <a:solidFill>
                  <a:schemeClr val="bg1"/>
                </a:solidFill>
              </a:rPr>
              <a:t>REFERENCES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32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AC11C-3A7E-BA9E-680C-F6AD0FA3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52B0C35-1DC7-DDBB-787C-131A9AF2A5C9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474D4-000E-751D-900D-2CC1D216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3</a:t>
            </a:fld>
            <a:endParaRPr lang="en-IN" dirty="0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D95132B-FBBD-D539-8A7F-4B0902240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398877FD-561B-64BC-5E19-1A0F87B49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3" name="Picture 2" descr="A blue and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702D5268-10BE-CFAF-F6F7-04E78B30C8B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5DD5919-AF4B-CEA6-0DB2-5C54CB93A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54" y="200644"/>
            <a:ext cx="6488946" cy="1280890"/>
          </a:xfrm>
        </p:spPr>
        <p:txBody>
          <a:bodyPr>
            <a:noAutofit/>
          </a:bodyPr>
          <a:lstStyle/>
          <a:p>
            <a:pPr marL="514350" indent="-514350">
              <a:lnSpc>
                <a:spcPct val="90000"/>
              </a:lnSpc>
              <a:buClr>
                <a:schemeClr val="bg1">
                  <a:lumMod val="95000"/>
                </a:schemeClr>
              </a:buClr>
              <a:buFont typeface="+mj-lt"/>
              <a:buAutoNum type="arabicPeriod"/>
            </a:pPr>
            <a:r>
              <a:rPr lang="en-IN" sz="6000" b="1" dirty="0">
                <a:solidFill>
                  <a:schemeClr val="bg1"/>
                </a:solidFill>
              </a:rPr>
              <a:t> Introduction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5A13F7E-521F-6440-FFCA-8DFD00AFC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4654" y="1316510"/>
            <a:ext cx="10007142" cy="5037637"/>
          </a:xfrm>
        </p:spPr>
        <p:txBody>
          <a:bodyPr>
            <a:normAutofit fontScale="92500" lnSpcReduction="10000"/>
          </a:bodyPr>
          <a:lstStyle/>
          <a:p>
            <a:pPr marL="57150" indent="0" algn="just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r>
              <a:rPr lang="en-IN" sz="3800" b="1" dirty="0">
                <a:solidFill>
                  <a:srgbClr val="002060"/>
                </a:solidFill>
              </a:rPr>
              <a:t>1.1 Overview</a:t>
            </a:r>
          </a:p>
          <a:p>
            <a:pPr marL="57150" indent="0" algn="just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r>
              <a:rPr lang="en-US" dirty="0">
                <a:solidFill>
                  <a:srgbClr val="FFFF00"/>
                </a:solidFill>
              </a:rPr>
              <a:t>Introducing a smart, real-time security system designed to prevent crimes against women.</a:t>
            </a:r>
            <a:endParaRPr lang="en-IN" dirty="0">
              <a:solidFill>
                <a:srgbClr val="FFFF00"/>
              </a:solidFill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600" dirty="0">
                <a:solidFill>
                  <a:schemeClr val="bg1"/>
                </a:solidFill>
              </a:rPr>
              <a:t> Addresses the critical need for advanced surveillance and analytical solutions.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600" dirty="0">
                <a:solidFill>
                  <a:schemeClr val="bg1"/>
                </a:solidFill>
              </a:rPr>
              <a:t> A promising, modern approach to enhance public safety.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600" dirty="0">
                <a:solidFill>
                  <a:schemeClr val="bg1"/>
                </a:solidFill>
              </a:rPr>
              <a:t> Focuses on real-time threat detection, not just post-incident analysis.</a:t>
            </a:r>
          </a:p>
          <a:p>
            <a:pPr marL="457200" lvl="1" indent="0" algn="just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57150" indent="0" algn="just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r>
              <a:rPr lang="en-IN" sz="3800" b="1" dirty="0">
                <a:solidFill>
                  <a:srgbClr val="002060"/>
                </a:solidFill>
              </a:rPr>
              <a:t>1.2 Purpose</a:t>
            </a:r>
          </a:p>
          <a:p>
            <a:pPr marL="57150" indent="0" algn="just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r>
              <a:rPr lang="en-US" dirty="0">
                <a:solidFill>
                  <a:srgbClr val="FFFF00"/>
                </a:solidFill>
              </a:rPr>
              <a:t>To create safer environments by providing law enforcement with early warnings of potential threats.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600" b="1" dirty="0">
                <a:solidFill>
                  <a:schemeClr val="bg1"/>
                </a:solidFill>
              </a:rPr>
              <a:t> Proactive Threat Detection:</a:t>
            </a:r>
            <a:r>
              <a:rPr lang="en-US" altLang="en-US" sz="2600" dirty="0">
                <a:solidFill>
                  <a:schemeClr val="bg1"/>
                </a:solidFill>
              </a:rPr>
              <a:t> Identifies unusual patterns and anomalies.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600" b="1" dirty="0">
                <a:solidFill>
                  <a:schemeClr val="bg1"/>
                </a:solidFill>
              </a:rPr>
              <a:t> Early Alert System:</a:t>
            </a:r>
            <a:r>
              <a:rPr lang="en-US" altLang="en-US" sz="2600" dirty="0">
                <a:solidFill>
                  <a:schemeClr val="bg1"/>
                </a:solidFill>
              </a:rPr>
              <a:t> Generates alerts to pre-empt potential incidents.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600" b="1" dirty="0">
                <a:solidFill>
                  <a:schemeClr val="bg1"/>
                </a:solidFill>
              </a:rPr>
              <a:t> Data-Driven Insights:</a:t>
            </a:r>
            <a:r>
              <a:rPr lang="en-US" altLang="en-US" sz="2600" dirty="0">
                <a:solidFill>
                  <a:schemeClr val="bg1"/>
                </a:solidFill>
              </a:rPr>
              <a:t> Offers valuable data on public safety trends and gender distribution.</a:t>
            </a:r>
          </a:p>
          <a:p>
            <a:pPr marL="57150" indent="0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57150" indent="0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400050">
              <a:lnSpc>
                <a:spcPct val="90000"/>
              </a:lnSpc>
              <a:buClr>
                <a:schemeClr val="bg1">
                  <a:lumMod val="95000"/>
                </a:schemeClr>
              </a:buClr>
            </a:pPr>
            <a:endParaRPr lang="en-US" dirty="0">
              <a:solidFill>
                <a:schemeClr val="bg2"/>
              </a:solidFill>
            </a:endParaRPr>
          </a:p>
          <a:p>
            <a:pPr marL="57150" indent="0">
              <a:lnSpc>
                <a:spcPct val="90000"/>
              </a:lnSpc>
              <a:buClr>
                <a:schemeClr val="bg1">
                  <a:lumMod val="95000"/>
                </a:schemeClr>
              </a:buClr>
              <a:buNone/>
            </a:pPr>
            <a:endParaRPr lang="en-IN" dirty="0">
              <a:solidFill>
                <a:schemeClr val="bg2"/>
              </a:solidFill>
            </a:endParaRPr>
          </a:p>
          <a:p>
            <a:pPr marL="514350" indent="-514350">
              <a:lnSpc>
                <a:spcPct val="90000"/>
              </a:lnSpc>
              <a:buClr>
                <a:schemeClr val="bg1">
                  <a:lumMod val="95000"/>
                </a:schemeClr>
              </a:buClr>
              <a:buFont typeface="+mj-lt"/>
              <a:buAutoNum type="arabicPeriod"/>
            </a:pP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930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DB10A-D3C0-A4B4-83FA-33578647C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038DB4-05D3-5CF1-5B36-E14D47A8790E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DFCBC-E03C-90BC-ADBC-26F5327A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4</a:t>
            </a:fld>
            <a:endParaRPr lang="en-IN" dirty="0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F3C5A19-936A-BE5B-E17F-3DEDE3CF0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1EC2D62E-E283-6C6D-DF45-5572410D6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3" name="Picture 2" descr="A blue and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AB9A58BD-9160-CA3F-AE43-6590E247D6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267633A-D56C-7034-0534-CC3490EE8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54" y="200644"/>
            <a:ext cx="6958846" cy="1280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chemeClr val="bg1">
                  <a:lumMod val="95000"/>
                </a:schemeClr>
              </a:buClr>
            </a:pPr>
            <a:r>
              <a:rPr lang="en-US" sz="6000" b="1" dirty="0">
                <a:solidFill>
                  <a:schemeClr val="bg1"/>
                </a:solidFill>
              </a:rPr>
              <a:t>2. </a:t>
            </a:r>
            <a:r>
              <a:rPr lang="en-IN" sz="6000" b="1" dirty="0">
                <a:solidFill>
                  <a:schemeClr val="bg1"/>
                </a:solidFill>
              </a:rPr>
              <a:t>Literature Review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8EA9F1-5486-323A-4F2F-57B71BD9E8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0" t="21471" r="4573" b="21824"/>
          <a:stretch>
            <a:fillRect/>
          </a:stretch>
        </p:blipFill>
        <p:spPr>
          <a:xfrm>
            <a:off x="1572932" y="1317749"/>
            <a:ext cx="8624414" cy="538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869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79FE-A75B-366E-AF32-ED05D8426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1F11B9-B15C-7734-55CF-8EDA69E9B26A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74EB2-092C-E758-416E-7BAB15C8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5</a:t>
            </a:fld>
            <a:endParaRPr lang="en-IN" dirty="0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3AAB9E8-EB35-B20C-CA80-B752B4FF7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3B594B29-D7E9-FFBB-4B5B-06275E2D6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3" name="Picture 2" descr="A blue and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36278471-664C-85BF-F85C-7DA16AC4C57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ADEB191-1052-AE2C-80F5-38E951D88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53" y="200644"/>
            <a:ext cx="7746245" cy="128089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>
                <a:schemeClr val="bg1">
                  <a:lumMod val="95000"/>
                </a:schemeClr>
              </a:buClr>
            </a:pPr>
            <a:r>
              <a:rPr lang="en-US" sz="6000" b="1" dirty="0">
                <a:solidFill>
                  <a:schemeClr val="bg1"/>
                </a:solidFill>
              </a:rPr>
              <a:t>3. </a:t>
            </a:r>
            <a:r>
              <a:rPr lang="en-IN" sz="6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880E2A6-5BD7-1181-450B-14CF7301B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54" y="1619719"/>
            <a:ext cx="6984246" cy="5037637"/>
          </a:xfrm>
        </p:spPr>
        <p:txBody>
          <a:bodyPr>
            <a:normAutofit/>
          </a:bodyPr>
          <a:lstStyle/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dirty="0">
                <a:solidFill>
                  <a:schemeClr val="bg1"/>
                </a:solidFill>
              </a:rPr>
              <a:t> The increasing rate of crimes against women in urban areas.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dirty="0">
                <a:solidFill>
                  <a:schemeClr val="bg1"/>
                </a:solidFill>
              </a:rPr>
              <a:t> Existing systems are reactive, not preventive. They help with post-incident evidence gathering but do little to stop the crime in the moment.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000" dirty="0">
                <a:solidFill>
                  <a:schemeClr val="bg1"/>
                </a:solidFill>
              </a:rPr>
              <a:t> There is a need for a </a:t>
            </a:r>
            <a:r>
              <a:rPr lang="en-US" altLang="en-US" sz="3000" b="1" dirty="0">
                <a:solidFill>
                  <a:schemeClr val="bg1"/>
                </a:solidFill>
              </a:rPr>
              <a:t>promising, intelligent approach</a:t>
            </a:r>
            <a:r>
              <a:rPr lang="en-US" altLang="en-US" sz="3000" dirty="0">
                <a:solidFill>
                  <a:schemeClr val="bg1"/>
                </a:solidFill>
              </a:rPr>
              <a:t> to address these issues through technology that can monitor, analyze, and alert in real-time.</a:t>
            </a:r>
          </a:p>
        </p:txBody>
      </p:sp>
      <p:pic>
        <p:nvPicPr>
          <p:cNvPr id="9" name="Picture 8" descr="A person standing in front of a light post&#10;&#10;AI-generated content may be incorrect.">
            <a:extLst>
              <a:ext uri="{FF2B5EF4-FFF2-40B4-BE49-F238E27FC236}">
                <a16:creationId xmlns:a16="http://schemas.microsoft.com/office/drawing/2014/main" id="{AF299D2A-CDF6-2163-4C9D-FD00A8599A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70"/>
          <a:stretch>
            <a:fillRect/>
          </a:stretch>
        </p:blipFill>
        <p:spPr>
          <a:xfrm>
            <a:off x="7582196" y="1994392"/>
            <a:ext cx="4419600" cy="385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3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14D85-B53F-E7FC-FC91-A81F1CE8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9E53D5-2893-AE13-ABDC-5CD3A478546F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67F2A-9CA9-E330-24DF-33F24C27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6</a:t>
            </a:fld>
            <a:endParaRPr lang="en-IN" dirty="0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A3558D6-5BE2-887F-8568-1C87C606C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7CAC5A63-4E1C-8DCF-A789-BA88EC008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3" name="Picture 2" descr="A blue and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A3ACE2F3-242E-5DF0-6737-3C36A2FC4B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281367-2730-5D9C-E99E-FB5DB7391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53" y="200644"/>
            <a:ext cx="7746245" cy="128089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>
                <a:schemeClr val="bg1">
                  <a:lumMod val="95000"/>
                </a:schemeClr>
              </a:buClr>
            </a:pPr>
            <a:r>
              <a:rPr lang="en-US" sz="6000" b="1" dirty="0">
                <a:solidFill>
                  <a:schemeClr val="bg1"/>
                </a:solidFill>
              </a:rPr>
              <a:t>4. </a:t>
            </a:r>
            <a:r>
              <a:rPr lang="en-IN" sz="6000" b="1" dirty="0">
                <a:solidFill>
                  <a:schemeClr val="bg1"/>
                </a:solidFill>
              </a:rPr>
              <a:t>Proposed Solution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28FC0DF-2FE4-C661-642F-A9130755F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327" y="1481534"/>
            <a:ext cx="11467346" cy="1085381"/>
          </a:xfrm>
        </p:spPr>
        <p:txBody>
          <a:bodyPr>
            <a:normAutofit/>
          </a:bodyPr>
          <a:lstStyle/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200" dirty="0">
                <a:solidFill>
                  <a:srgbClr val="FFFF00"/>
                </a:solidFill>
              </a:rPr>
              <a:t>A software system that uses </a:t>
            </a:r>
            <a:r>
              <a:rPr lang="en-US" sz="3200" b="1" dirty="0">
                <a:solidFill>
                  <a:srgbClr val="FFFF00"/>
                </a:solidFill>
              </a:rPr>
              <a:t>advanced analytics</a:t>
            </a:r>
            <a:r>
              <a:rPr lang="en-US" sz="3200" dirty="0">
                <a:solidFill>
                  <a:srgbClr val="FFFF00"/>
                </a:solidFill>
              </a:rPr>
              <a:t> and </a:t>
            </a:r>
            <a:r>
              <a:rPr lang="en-US" sz="3200" b="1" dirty="0">
                <a:solidFill>
                  <a:srgbClr val="FFFF00"/>
                </a:solidFill>
              </a:rPr>
              <a:t>real-time monitoring</a:t>
            </a:r>
            <a:r>
              <a:rPr lang="en-US" sz="3200" dirty="0">
                <a:solidFill>
                  <a:srgbClr val="FFFF00"/>
                </a:solidFill>
              </a:rPr>
              <a:t> to create safer public environments for women</a:t>
            </a:r>
            <a:endParaRPr lang="en-US" altLang="en-US" sz="3000" dirty="0">
              <a:solidFill>
                <a:srgbClr val="FFFF00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78F5C-3A8F-273F-2DC7-4514B100F174}"/>
              </a:ext>
            </a:extLst>
          </p:cNvPr>
          <p:cNvSpPr txBox="1">
            <a:spLocks/>
          </p:cNvSpPr>
          <p:nvPr/>
        </p:nvSpPr>
        <p:spPr>
          <a:xfrm>
            <a:off x="362327" y="2575979"/>
            <a:ext cx="6025773" cy="439584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1" dirty="0">
                <a:solidFill>
                  <a:schemeClr val="bg1"/>
                </a:solidFill>
              </a:rPr>
              <a:t> Anomaly Detection:</a:t>
            </a:r>
            <a:r>
              <a:rPr lang="en-US" altLang="en-US" sz="3200" dirty="0">
                <a:solidFill>
                  <a:schemeClr val="bg1"/>
                </a:solidFill>
              </a:rPr>
              <a:t> Identifies unusual behaviors or gestures (e.g., aggression, loitering) that may indicate a threat.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1" dirty="0">
                <a:solidFill>
                  <a:schemeClr val="bg1"/>
                </a:solidFill>
              </a:rPr>
              <a:t> Contextual Awareness:</a:t>
            </a:r>
            <a:r>
              <a:rPr lang="en-US" altLang="en-US" sz="3200" dirty="0">
                <a:solidFill>
                  <a:schemeClr val="bg1"/>
                </a:solidFill>
              </a:rPr>
              <a:t> Recognizes specific high-risk patterns, such as a lone woman in a deserted area.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1" dirty="0">
                <a:solidFill>
                  <a:schemeClr val="bg1"/>
                </a:solidFill>
              </a:rPr>
              <a:t> Real-Time Alerts:</a:t>
            </a:r>
            <a:r>
              <a:rPr lang="en-US" altLang="en-US" sz="3200" dirty="0">
                <a:solidFill>
                  <a:schemeClr val="bg1"/>
                </a:solidFill>
              </a:rPr>
              <a:t> Instantly notifies law enforcement to intervene.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b="1" dirty="0">
                <a:solidFill>
                  <a:schemeClr val="bg1"/>
                </a:solidFill>
              </a:rPr>
              <a:t> Data Insights:</a:t>
            </a:r>
            <a:r>
              <a:rPr lang="en-US" altLang="en-US" sz="3200" dirty="0">
                <a:solidFill>
                  <a:schemeClr val="bg1"/>
                </a:solidFill>
              </a:rPr>
              <a:t> Continuously monitors gender distribution in specific locations to inform security planning.</a:t>
            </a:r>
          </a:p>
        </p:txBody>
      </p:sp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1B83319-FF28-8AAB-E2B7-1FAC755B6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50" t="33896" r="-1" b="20386"/>
          <a:stretch>
            <a:fillRect/>
          </a:stretch>
        </p:blipFill>
        <p:spPr>
          <a:xfrm>
            <a:off x="6997700" y="2566915"/>
            <a:ext cx="4258598" cy="41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84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CAEAD-4046-7DDD-3CA1-DA81FA280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93B998-3D0E-339E-6DBC-37945A592B27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F6734-7801-F002-1D10-E742E12E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7</a:t>
            </a:fld>
            <a:endParaRPr lang="en-IN" dirty="0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3046A1B-72E5-015B-AE1C-EA722E735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E584B749-70D0-E99A-784D-AFB36E0F6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3" name="Picture 2" descr="A blue and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D615EEF3-EA63-D74F-0D8E-20E58AAD680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78F6639-0810-34C3-9503-B3E3FF3D2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53" y="200644"/>
            <a:ext cx="7746245" cy="128089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>
                <a:schemeClr val="bg1">
                  <a:lumMod val="95000"/>
                </a:schemeClr>
              </a:buClr>
            </a:pPr>
            <a:r>
              <a:rPr lang="en-US" sz="6000" b="1" dirty="0">
                <a:solidFill>
                  <a:schemeClr val="bg1"/>
                </a:solidFill>
              </a:rPr>
              <a:t>5. </a:t>
            </a:r>
            <a:r>
              <a:rPr lang="en-IN" sz="60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1ADC0BD-704F-FC7C-5659-036BEE16AF43}"/>
              </a:ext>
            </a:extLst>
          </p:cNvPr>
          <p:cNvSpPr txBox="1">
            <a:spLocks/>
          </p:cNvSpPr>
          <p:nvPr/>
        </p:nvSpPr>
        <p:spPr>
          <a:xfrm>
            <a:off x="362327" y="1654175"/>
            <a:ext cx="6025773" cy="53176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>
                <a:solidFill>
                  <a:schemeClr val="bg2">
                    <a:lumMod val="90000"/>
                  </a:schemeClr>
                </a:solidFill>
              </a:rPr>
              <a:t> To develop and deploy a real-time threat detection software.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>
                <a:solidFill>
                  <a:schemeClr val="bg2">
                    <a:lumMod val="90000"/>
                  </a:schemeClr>
                </a:solidFill>
              </a:rPr>
              <a:t> To effectively assist law enforcement in preventing crimes against women.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>
                <a:solidFill>
                  <a:schemeClr val="bg2">
                    <a:lumMod val="90000"/>
                  </a:schemeClr>
                </a:solidFill>
              </a:rPr>
              <a:t> To improve public safety and foster a secure atmosphere.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>
                <a:solidFill>
                  <a:schemeClr val="bg2">
                    <a:lumMod val="90000"/>
                  </a:schemeClr>
                </a:solidFill>
              </a:rPr>
              <a:t> To provide actionable insights into gender distribution and potential threats in specific locations.</a:t>
            </a:r>
          </a:p>
        </p:txBody>
      </p:sp>
      <p:pic>
        <p:nvPicPr>
          <p:cNvPr id="8" name="Picture 7" descr="A group of women walking on a sidewalk&#10;&#10;AI-generated content may be incorrect.">
            <a:extLst>
              <a:ext uri="{FF2B5EF4-FFF2-40B4-BE49-F238E27FC236}">
                <a16:creationId xmlns:a16="http://schemas.microsoft.com/office/drawing/2014/main" id="{E805EE9B-3639-B87F-9AE5-2385A83E17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361" y="1654175"/>
            <a:ext cx="4861551" cy="486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5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98947-1313-7BDF-CC9B-86EBB168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4B4D2F-C729-A854-C9DA-81BECDB6A54B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43D6C-9F0C-98BC-26C9-1205A348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8</a:t>
            </a:fld>
            <a:endParaRPr lang="en-IN" dirty="0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4BC90AA-0714-CD28-3779-2E9D52937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5D450F6E-78CF-7A1B-E2D6-647449E1C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3" name="Picture 2" descr="A blue and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CF23EB62-B9AD-C973-3704-0ED2A2A3FD1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E484849-03D7-8E22-5529-F086959AD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53" y="200644"/>
            <a:ext cx="7746245" cy="128089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>
                <a:schemeClr val="bg1">
                  <a:lumMod val="95000"/>
                </a:schemeClr>
              </a:buClr>
            </a:pPr>
            <a:r>
              <a:rPr lang="en-US" sz="6000" b="1" dirty="0">
                <a:solidFill>
                  <a:schemeClr val="bg1"/>
                </a:solidFill>
              </a:rPr>
              <a:t>6. </a:t>
            </a:r>
            <a:r>
              <a:rPr lang="en-IN" sz="6000" b="1" dirty="0">
                <a:solidFill>
                  <a:schemeClr val="bg1"/>
                </a:solidFill>
              </a:rPr>
              <a:t>Theoretical Analysis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755E5DD-AA70-63F6-538B-C578B1EE3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327" y="1481534"/>
            <a:ext cx="11467346" cy="1085381"/>
          </a:xfrm>
        </p:spPr>
        <p:txBody>
          <a:bodyPr>
            <a:normAutofit fontScale="92500"/>
          </a:bodyPr>
          <a:lstStyle/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200" b="1" dirty="0">
                <a:solidFill>
                  <a:srgbClr val="002060"/>
                </a:solidFill>
              </a:rPr>
              <a:t>6.1 Block Diagram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200" dirty="0">
                <a:solidFill>
                  <a:srgbClr val="FFFF00"/>
                </a:solidFill>
              </a:rPr>
              <a:t>A visual representation of the system's components and their interactions.</a:t>
            </a:r>
            <a:endParaRPr lang="en-US" altLang="en-US" sz="3000" dirty="0">
              <a:solidFill>
                <a:srgbClr val="FFFF00"/>
              </a:solidFill>
            </a:endParaRPr>
          </a:p>
        </p:txBody>
      </p:sp>
      <p:pic>
        <p:nvPicPr>
          <p:cNvPr id="8" name="Picture 7" descr="A diagram of women safety&#10;&#10;AI-generated content may be incorrect.">
            <a:extLst>
              <a:ext uri="{FF2B5EF4-FFF2-40B4-BE49-F238E27FC236}">
                <a16:creationId xmlns:a16="http://schemas.microsoft.com/office/drawing/2014/main" id="{1FFF7ADE-EF0E-6207-EA87-54F41CE7F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54" b="33333"/>
          <a:stretch>
            <a:fillRect/>
          </a:stretch>
        </p:blipFill>
        <p:spPr>
          <a:xfrm>
            <a:off x="181163" y="3189746"/>
            <a:ext cx="11829673" cy="280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54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C7AE5-9511-43E4-2B5A-4A4B81C2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53B462-9702-F83D-DED4-498171E94B42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17AB2-DE7F-0137-E35D-BBF6C6121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9</a:t>
            </a:fld>
            <a:endParaRPr lang="en-IN" dirty="0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B3C9267-4C92-E497-DD2B-79E61D31D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1F4912AF-ACD9-F687-FB66-03CBBB60F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3" name="Picture 2" descr="A blue and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B195EA7C-CDC2-E6E6-C1EF-FEF56C6B0CE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8A3F55A-A0ED-1DF1-62DB-D468EA55F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53" y="200644"/>
            <a:ext cx="7746245" cy="128089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>
                <a:schemeClr val="bg1">
                  <a:lumMod val="95000"/>
                </a:schemeClr>
              </a:buClr>
            </a:pPr>
            <a:r>
              <a:rPr lang="en-US" sz="6000" b="1" dirty="0">
                <a:solidFill>
                  <a:schemeClr val="bg1"/>
                </a:solidFill>
              </a:rPr>
              <a:t>6. </a:t>
            </a:r>
            <a:r>
              <a:rPr lang="en-IN" sz="6000" b="1" dirty="0">
                <a:solidFill>
                  <a:schemeClr val="bg1"/>
                </a:solidFill>
              </a:rPr>
              <a:t>Theoretical Analysis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1035F82-2591-B99F-F278-3F839804E034}"/>
              </a:ext>
            </a:extLst>
          </p:cNvPr>
          <p:cNvSpPr txBox="1">
            <a:spLocks/>
          </p:cNvSpPr>
          <p:nvPr/>
        </p:nvSpPr>
        <p:spPr>
          <a:xfrm>
            <a:off x="362326" y="1488153"/>
            <a:ext cx="5808590" cy="53176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500" b="1" dirty="0">
                <a:solidFill>
                  <a:srgbClr val="002060"/>
                </a:solidFill>
              </a:rPr>
              <a:t>6.2 Hardware Requirements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High-Resolution </a:t>
            </a:r>
            <a:r>
              <a:rPr lang="en-US" alt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Surveillance Cameras </a:t>
            </a:r>
            <a:r>
              <a:rPr lang="en-US" alt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(IP Cameras).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A </a:t>
            </a:r>
            <a:r>
              <a:rPr lang="en-US" alt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Central Server</a:t>
            </a:r>
            <a:r>
              <a:rPr lang="en-US" alt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or Cloud Infrastructure for processing data.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High-Performance </a:t>
            </a:r>
            <a:r>
              <a:rPr lang="en-US" alt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Processors</a:t>
            </a:r>
            <a:r>
              <a:rPr lang="en-US" alt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(CPUs/GPUs) for running complex AI algorithms.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Secure Network Connectivity (Wired or Wireless).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altLang="en-US" sz="3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Storage Devices </a:t>
            </a:r>
            <a:r>
              <a:rPr lang="en-US" altLang="en-US" sz="3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for storing and analyzing data.</a:t>
            </a:r>
          </a:p>
        </p:txBody>
      </p:sp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CF5A391-C81D-2144-843C-85D5BB2367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496" y="1237123"/>
            <a:ext cx="5575300" cy="557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55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6483C-B828-C31C-3D29-BB2D690C4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F11A82-33B7-08A7-5F7F-C5373E470E7E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9258B-1B44-BEB6-C5CB-5A0F36B8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10</a:t>
            </a:fld>
            <a:endParaRPr lang="en-IN" dirty="0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1F737C4-BA82-7E13-0D2F-48FB9C502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46A287C6-FC0A-A935-B560-E96607D40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3" name="Picture 2" descr="A blue and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CAC276CE-0A01-9B75-F6C9-5F00717FA50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9D57C4B-78FA-4203-0E4D-7728808F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53" y="200644"/>
            <a:ext cx="7746245" cy="128089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>
                <a:schemeClr val="bg1">
                  <a:lumMod val="95000"/>
                </a:schemeClr>
              </a:buClr>
            </a:pPr>
            <a:r>
              <a:rPr lang="en-US" sz="6000" b="1" dirty="0">
                <a:solidFill>
                  <a:schemeClr val="bg1"/>
                </a:solidFill>
              </a:rPr>
              <a:t>7. </a:t>
            </a:r>
            <a:r>
              <a:rPr lang="en-IN" sz="6000" b="1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70B20E3-E064-03B1-2075-D374471D56B1}"/>
              </a:ext>
            </a:extLst>
          </p:cNvPr>
          <p:cNvSpPr txBox="1">
            <a:spLocks/>
          </p:cNvSpPr>
          <p:nvPr/>
        </p:nvSpPr>
        <p:spPr>
          <a:xfrm>
            <a:off x="1556423" y="1481534"/>
            <a:ext cx="10445373" cy="53176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6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Public Spaces:</a:t>
            </a:r>
            <a:r>
              <a:rPr lang="en-US" altLang="en-US" sz="3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Parks, bus stations, train stations, and shopping malls.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6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Educational Campuses:</a:t>
            </a:r>
            <a:r>
              <a:rPr lang="en-US" altLang="en-US" sz="3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Universities and colleges to ensure student safety.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6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Corporate Offices:</a:t>
            </a:r>
            <a:r>
              <a:rPr lang="en-US" altLang="en-US" sz="3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Monitoring parking lots and common areas.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6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Residential Communities:</a:t>
            </a:r>
            <a:r>
              <a:rPr lang="en-US" altLang="en-US" sz="3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Gated communities and apartment complexes.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6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Smart City Initiatives:</a:t>
            </a:r>
            <a:r>
              <a:rPr lang="en-US" altLang="en-US" sz="36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Integrating with city-wide surveillance networks for a comprehensive safety solution</a:t>
            </a:r>
          </a:p>
        </p:txBody>
      </p:sp>
    </p:spTree>
    <p:extLst>
      <p:ext uri="{BB962C8B-B14F-4D97-AF65-F5344CB8AC3E}">
        <p14:creationId xmlns:p14="http://schemas.microsoft.com/office/powerpoint/2010/main" val="3937861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EED0-23A4-FC26-0F6E-41646630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531970-4E6A-68D5-F100-A08174F72016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E5946-6FE6-ECA7-B93A-0646E4AC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11</a:t>
            </a:fld>
            <a:endParaRPr lang="en-IN" dirty="0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A585275-457C-1224-F301-7CA7DD805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76A24AF2-F3A0-625B-1FB5-E961334C2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3" name="Picture 2" descr="A blue and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943D6FC3-61FB-AFBE-4A68-42AFA209B4E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FF8C5E6-407F-2F19-F7D1-B1C2C48E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53" y="200644"/>
            <a:ext cx="7746245" cy="128089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>
                <a:schemeClr val="bg1">
                  <a:lumMod val="95000"/>
                </a:schemeClr>
              </a:buClr>
            </a:pPr>
            <a:r>
              <a:rPr lang="en-IN" sz="6000" b="1" dirty="0">
                <a:solidFill>
                  <a:schemeClr val="bg1"/>
                </a:solidFill>
              </a:rPr>
              <a:t> </a:t>
            </a:r>
            <a:r>
              <a:rPr lang="en-IN" sz="6000" b="1" dirty="0" err="1">
                <a:solidFill>
                  <a:schemeClr val="bg1"/>
                </a:solidFill>
              </a:rPr>
              <a:t>Github</a:t>
            </a:r>
            <a:r>
              <a:rPr lang="en-IN" sz="6000" b="1" dirty="0">
                <a:solidFill>
                  <a:schemeClr val="bg1"/>
                </a:solidFill>
              </a:rPr>
              <a:t> Link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2A25900-6A68-9098-033B-64DD80AE1937}"/>
              </a:ext>
            </a:extLst>
          </p:cNvPr>
          <p:cNvSpPr txBox="1">
            <a:spLocks/>
          </p:cNvSpPr>
          <p:nvPr/>
        </p:nvSpPr>
        <p:spPr>
          <a:xfrm>
            <a:off x="2002206" y="1624883"/>
            <a:ext cx="10445373" cy="5317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>
                <a:solidFill>
                  <a:srgbClr val="FFFF00"/>
                </a:solidFill>
              </a:rPr>
              <a:t>https://github.com/Saloni-Jain25/AegisAI</a:t>
            </a:r>
          </a:p>
        </p:txBody>
      </p:sp>
      <p:pic>
        <p:nvPicPr>
          <p:cNvPr id="2" name="Graphic 1" descr="Link with solid fill">
            <a:extLst>
              <a:ext uri="{FF2B5EF4-FFF2-40B4-BE49-F238E27FC236}">
                <a16:creationId xmlns:a16="http://schemas.microsoft.com/office/drawing/2014/main" id="{EBBF63B0-9C0B-C69B-7EE9-C3D8A0D471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8550769" y="1472470"/>
            <a:ext cx="3451027" cy="345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92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86EA5-55AA-C2F1-0800-5B7ACDBEE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4CE19E-C806-5390-2BFE-46801E3EFEC5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06640-1D73-D214-61B9-3E679A831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12</a:t>
            </a:fld>
            <a:endParaRPr lang="en-IN" dirty="0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472290D-5CB4-31DF-0527-C8AA72D6A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EED54596-2482-1AC3-B211-5F0AEB66A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3" name="Picture 2" descr="A blue and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F29F3372-2428-356A-7820-592CE35166C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C1192A3-7F96-A5D7-F72B-EAA8553B9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653" y="200644"/>
            <a:ext cx="7746245" cy="128089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>
                <a:schemeClr val="bg1">
                  <a:lumMod val="95000"/>
                </a:schemeClr>
              </a:buClr>
            </a:pPr>
            <a:r>
              <a:rPr lang="en-IN" sz="6000" b="1" dirty="0">
                <a:solidFill>
                  <a:schemeClr val="bg1"/>
                </a:solidFill>
              </a:rPr>
              <a:t> REFERENCES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D5B515-7F17-DF6F-6E91-546389C48A81}"/>
              </a:ext>
            </a:extLst>
          </p:cNvPr>
          <p:cNvSpPr txBox="1">
            <a:spLocks/>
          </p:cNvSpPr>
          <p:nvPr/>
        </p:nvSpPr>
        <p:spPr>
          <a:xfrm>
            <a:off x="1994653" y="1303290"/>
            <a:ext cx="9999590" cy="592378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6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en-US" sz="3600" b="1" dirty="0" err="1">
                <a:solidFill>
                  <a:schemeClr val="bg2">
                    <a:lumMod val="90000"/>
                  </a:schemeClr>
                </a:solidFill>
              </a:rPr>
              <a:t>Kalshetty</a:t>
            </a:r>
            <a:r>
              <a:rPr lang="en-US" altLang="en-US" sz="3600" b="1" dirty="0">
                <a:solidFill>
                  <a:schemeClr val="bg2">
                    <a:lumMod val="90000"/>
                  </a:schemeClr>
                </a:solidFill>
              </a:rPr>
              <a:t>, Y. R., et al. (2024). "Women Safety Analytics – Protecting Women from Safety Threats."</a:t>
            </a:r>
            <a:r>
              <a:rPr lang="en-US" altLang="en-US" sz="36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en-US" sz="3600" i="1" dirty="0">
                <a:solidFill>
                  <a:schemeClr val="bg2">
                    <a:lumMod val="90000"/>
                  </a:schemeClr>
                </a:solidFill>
              </a:rPr>
              <a:t>International Journal of Innovative Research in Technology (IJIRT).</a:t>
            </a:r>
            <a:r>
              <a:rPr lang="en-US" altLang="en-US" sz="36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en-US" sz="3600" i="1" dirty="0">
                <a:solidFill>
                  <a:schemeClr val="bg2">
                    <a:lumMod val="90000"/>
                  </a:schemeClr>
                </a:solidFill>
              </a:rPr>
              <a:t>This paper is highly relevant as it discusses a very similar project, validating your approach of using AI for gender classification and threat detection.</a:t>
            </a:r>
            <a:endParaRPr lang="en-US" altLang="en-US" sz="3600" dirty="0">
              <a:solidFill>
                <a:schemeClr val="bg2">
                  <a:lumMod val="90000"/>
                </a:schemeClr>
              </a:solidFill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600" b="1" dirty="0">
                <a:solidFill>
                  <a:schemeClr val="bg2">
                    <a:lumMod val="90000"/>
                  </a:schemeClr>
                </a:solidFill>
              </a:rPr>
              <a:t> Raji, I., &amp; </a:t>
            </a:r>
            <a:r>
              <a:rPr lang="en-US" altLang="en-US" sz="3600" b="1" dirty="0" err="1">
                <a:solidFill>
                  <a:schemeClr val="bg2">
                    <a:lumMod val="90000"/>
                  </a:schemeClr>
                </a:solidFill>
              </a:rPr>
              <a:t>Sholademi</a:t>
            </a:r>
            <a:r>
              <a:rPr lang="en-US" altLang="en-US" sz="3600" b="1" dirty="0">
                <a:solidFill>
                  <a:schemeClr val="bg2">
                    <a:lumMod val="90000"/>
                  </a:schemeClr>
                </a:solidFill>
              </a:rPr>
              <a:t>, D. B. (2023). "Predictive Policing: The Role of AI in Crime Prevention."</a:t>
            </a:r>
            <a:r>
              <a:rPr lang="en-US" altLang="en-US" sz="36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en-US" sz="3600" i="1" dirty="0">
                <a:solidFill>
                  <a:schemeClr val="bg2">
                    <a:lumMod val="90000"/>
                  </a:schemeClr>
                </a:solidFill>
              </a:rPr>
              <a:t>International Journal of Computer Applications in Technology (IJCAT).</a:t>
            </a:r>
            <a:r>
              <a:rPr lang="en-US" altLang="en-US" sz="36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en-US" sz="3600" i="1" dirty="0">
                <a:solidFill>
                  <a:schemeClr val="bg2">
                    <a:lumMod val="90000"/>
                  </a:schemeClr>
                </a:solidFill>
              </a:rPr>
              <a:t>This reference provides a strong academic foundation by focusing on the core concept of using AI and predictive analytics to anticipate and prevent criminal activity, which is the heart of your proposed solution.</a:t>
            </a:r>
            <a:endParaRPr lang="en-US" altLang="en-US" sz="3600" dirty="0">
              <a:solidFill>
                <a:schemeClr val="bg2">
                  <a:lumMod val="90000"/>
                </a:schemeClr>
              </a:solidFill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600" b="1" dirty="0">
                <a:solidFill>
                  <a:schemeClr val="bg2">
                    <a:lumMod val="90000"/>
                  </a:schemeClr>
                </a:solidFill>
              </a:rPr>
              <a:t> Adams, A., &amp; D' Silva, E. M. (2025). "Technology-Enabled Gender-Based Violence Solutions: The Story of Red Dot Foundation and </a:t>
            </a:r>
            <a:r>
              <a:rPr lang="en-US" altLang="en-US" sz="3600" b="1" dirty="0" err="1">
                <a:solidFill>
                  <a:schemeClr val="bg2">
                    <a:lumMod val="90000"/>
                  </a:schemeClr>
                </a:solidFill>
              </a:rPr>
              <a:t>Safecity</a:t>
            </a:r>
            <a:r>
              <a:rPr lang="en-US" altLang="en-US" sz="3600" b="1" dirty="0">
                <a:solidFill>
                  <a:schemeClr val="bg2">
                    <a:lumMod val="90000"/>
                  </a:schemeClr>
                </a:solidFill>
              </a:rPr>
              <a:t>."</a:t>
            </a:r>
            <a:r>
              <a:rPr lang="en-US" altLang="en-US" sz="36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en-US" sz="3600" i="1" dirty="0">
                <a:solidFill>
                  <a:schemeClr val="bg2">
                    <a:lumMod val="90000"/>
                  </a:schemeClr>
                </a:solidFill>
              </a:rPr>
              <a:t>Routledge.</a:t>
            </a:r>
            <a:r>
              <a:rPr lang="en-US" altLang="en-US" sz="36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en-US" sz="3600" i="1" dirty="0">
                <a:solidFill>
                  <a:schemeClr val="bg2">
                    <a:lumMod val="90000"/>
                  </a:schemeClr>
                </a:solidFill>
              </a:rPr>
              <a:t>This book provides essential real-world context, showing how technology is being used by reputable organizations to combat gender-based violence, giving your project a strong practical and social purpose.</a:t>
            </a:r>
            <a:endParaRPr lang="en-US" altLang="en-US" sz="3600" dirty="0">
              <a:solidFill>
                <a:schemeClr val="bg2">
                  <a:lumMod val="90000"/>
                </a:schemeClr>
              </a:solidFill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600" b="1" dirty="0">
                <a:solidFill>
                  <a:schemeClr val="bg2">
                    <a:lumMod val="90000"/>
                  </a:schemeClr>
                </a:solidFill>
              </a:rPr>
              <a:t> Rigano, C. (2019). "Using Artificial Intelligence to Address Criminal Justice Needs."</a:t>
            </a:r>
            <a:r>
              <a:rPr lang="en-US" altLang="en-US" sz="36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en-US" sz="3600" i="1" dirty="0">
                <a:solidFill>
                  <a:schemeClr val="bg2">
                    <a:lumMod val="90000"/>
                  </a:schemeClr>
                </a:solidFill>
              </a:rPr>
              <a:t>NIJ Journal 280, National Institute of Justice.</a:t>
            </a:r>
            <a:r>
              <a:rPr lang="en-US" altLang="en-US" sz="36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en-US" sz="3600" i="1" dirty="0">
                <a:solidFill>
                  <a:schemeClr val="bg2">
                    <a:lumMod val="90000"/>
                  </a:schemeClr>
                </a:solidFill>
              </a:rPr>
              <a:t>This publication from a government agency lends institutional credibility to your project by discussing various applications of AI in law enforcement, from facial recognition to crime forecasting.</a:t>
            </a:r>
            <a:endParaRPr lang="en-US" altLang="en-US" sz="36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92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D4BFA-6CE5-174D-68B0-F8C8C279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72D974-C64D-89B4-2CD4-2CED9D5EA11E}"/>
              </a:ext>
            </a:extLst>
          </p:cNvPr>
          <p:cNvSpPr/>
          <p:nvPr/>
        </p:nvSpPr>
        <p:spPr>
          <a:xfrm>
            <a:off x="0" y="0"/>
            <a:ext cx="12192000" cy="69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CA03C-DC9B-58C4-3E27-8A51CF1BD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13</a:t>
            </a:fld>
            <a:endParaRPr lang="en-IN" dirty="0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57F9A35-F9F7-2DE9-7C48-2B0D5C1F3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478" y="188118"/>
            <a:ext cx="2451101" cy="914528"/>
          </a:xfrm>
          <a:prstGeom prst="rect">
            <a:avLst/>
          </a:prstGeom>
        </p:spPr>
      </p:pic>
      <p:pic>
        <p:nvPicPr>
          <p:cNvPr id="12" name="Picture 11" descr="A logo with colorful circles and text&#10;&#10;AI-generated content may be incorrect.">
            <a:extLst>
              <a:ext uri="{FF2B5EF4-FFF2-40B4-BE49-F238E27FC236}">
                <a16:creationId xmlns:a16="http://schemas.microsoft.com/office/drawing/2014/main" id="{6EA0DEF5-15D3-0A91-47D8-7020AD4F1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9070" y="-181705"/>
            <a:ext cx="2606019" cy="1654175"/>
          </a:xfrm>
          <a:prstGeom prst="rect">
            <a:avLst/>
          </a:prstGeom>
        </p:spPr>
      </p:pic>
      <p:pic>
        <p:nvPicPr>
          <p:cNvPr id="3" name="Picture 2" descr="A blue and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618CC172-1B69-4F03-09D4-E4E8D5FF94A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9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D4E0E4C-86B2-D0F5-AFD4-82B5BE640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877" y="2472167"/>
            <a:ext cx="7746245" cy="128089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buClr>
                <a:schemeClr val="bg1">
                  <a:lumMod val="95000"/>
                </a:schemeClr>
              </a:buClr>
            </a:pPr>
            <a:r>
              <a:rPr lang="en-IN" sz="6000" b="1" dirty="0">
                <a:solidFill>
                  <a:schemeClr val="bg1"/>
                </a:solidFill>
              </a:rPr>
              <a:t>Thank You!</a:t>
            </a:r>
            <a:br>
              <a:rPr lang="en-IN" sz="6000" b="1" dirty="0">
                <a:solidFill>
                  <a:schemeClr val="bg1"/>
                </a:solidFill>
              </a:rPr>
            </a:br>
            <a:br>
              <a:rPr lang="en-IN" sz="6000" b="1" dirty="0">
                <a:solidFill>
                  <a:schemeClr val="bg1"/>
                </a:solidFill>
              </a:rPr>
            </a:br>
            <a:br>
              <a:rPr lang="en-IN" sz="6000" b="1" dirty="0">
                <a:solidFill>
                  <a:schemeClr val="bg1"/>
                </a:solidFill>
              </a:rPr>
            </a:br>
            <a:br>
              <a:rPr lang="en-IN" sz="6000" b="1" dirty="0">
                <a:solidFill>
                  <a:schemeClr val="bg1"/>
                </a:solidFill>
              </a:rPr>
            </a:br>
            <a:r>
              <a:rPr lang="en-IN" sz="6000" b="1" dirty="0">
                <a:solidFill>
                  <a:schemeClr val="bg1"/>
                </a:solidFill>
              </a:rPr>
              <a:t>Any Queries?</a:t>
            </a:r>
            <a:br>
              <a:rPr lang="en-IN" sz="6000" b="1" dirty="0">
                <a:solidFill>
                  <a:schemeClr val="bg1"/>
                </a:solidFill>
              </a:rPr>
            </a:br>
            <a:br>
              <a:rPr lang="en-IN" sz="6000" b="1" dirty="0">
                <a:solidFill>
                  <a:schemeClr val="bg1"/>
                </a:solidFill>
              </a:rPr>
            </a:br>
            <a:br>
              <a:rPr lang="en-IN" sz="6000" b="1" dirty="0">
                <a:solidFill>
                  <a:schemeClr val="bg1"/>
                </a:solidFill>
              </a:rPr>
            </a:br>
            <a:endParaRPr lang="en-IN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8667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736</TotalTime>
  <Words>817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Calibri</vt:lpstr>
      <vt:lpstr>Century Gothic</vt:lpstr>
      <vt:lpstr>Times New Roman</vt:lpstr>
      <vt:lpstr>Wingdings 3</vt:lpstr>
      <vt:lpstr>Wisp</vt:lpstr>
      <vt:lpstr>PowerPoint Presentation</vt:lpstr>
      <vt:lpstr>CONTENT</vt:lpstr>
      <vt:lpstr> Introduction</vt:lpstr>
      <vt:lpstr>2. Literature Review</vt:lpstr>
      <vt:lpstr>3. Problem Statement</vt:lpstr>
      <vt:lpstr>4. Proposed Solution</vt:lpstr>
      <vt:lpstr>5. Objectives</vt:lpstr>
      <vt:lpstr>6. Theoretical Analysis</vt:lpstr>
      <vt:lpstr>6. Theoretical Analysis</vt:lpstr>
      <vt:lpstr>7. Applications</vt:lpstr>
      <vt:lpstr> Github Link</vt:lpstr>
      <vt:lpstr> REFERENCES</vt:lpstr>
      <vt:lpstr>Thank You!    Any Queries?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Singh Chouhan</dc:creator>
  <cp:lastModifiedBy>Saloni Jain</cp:lastModifiedBy>
  <cp:revision>41</cp:revision>
  <dcterms:created xsi:type="dcterms:W3CDTF">2024-09-26T07:25:32Z</dcterms:created>
  <dcterms:modified xsi:type="dcterms:W3CDTF">2025-09-25T21:05:09Z</dcterms:modified>
</cp:coreProperties>
</file>